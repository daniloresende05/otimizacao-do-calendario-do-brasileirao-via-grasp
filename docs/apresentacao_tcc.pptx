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PRV</c:v>
                </c:pt>
              </c:strCache>
            </c:strRef>
          </c:tx>
          <c:spPr>
            <a:solidFill>
              <a:srgbClr val="5C6B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C6B6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433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Calendário real 2023</c:v>
                  </c:pt>
                  <c:pt idx="1">
                    <c:v>GRASP</c:v>
                  </c:pt>
                  <c:pt idx="2">
                    <c:v>GRASP + busca local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</c:v>
                </c:pt>
                <c:pt idx="1">
                  <c:v>7</c:v>
                </c:pt>
                <c:pt idx="2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6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majorGridlines>
          <c:spPr>
            <a:ln w="6350" cap="flat">
              <a:solidFill>
                <a:srgbClr val="E5E8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da arquitetura do otimizador: problema, intervalos de datas, GRASP, coloração das rodadas-âncora, busca local VND e comparação de PRV.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Definir PRV logo no início. O calendário real de 2023 é o baseline: 36 PRV, 11 só no Maracanã.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janela de cada rodada tem 3 dias e começa a cada 7. O descanso mínimo é 3 dias. Datas FIFA: o CSV já existe (43 dias), a restrição ainda será implementada — subtrair essas datas do conjunto disponível.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estágios: GRASP constrói, busca local refina. O critério lexicográfico (regras primeiro, PRV depois) é o mesmo nos dois.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Multi-start: várias construções do zero, guarda a melhor. A aleatoriedade vem da RCL e da seed. Não há busca local dentro do loop — ela vem depois, uma vez, sobre a vencedora.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Etapas da construção. A RCL atua na etapa 3 (mandos das rodadas intermediárias). Datas são a última etapa.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com 6 times (A–F). R1 = A-F, B-E, C-D; R2 = A-E, F-D, B-C. O ciclo A-F-D-C-B-E alterna arestas de R1 e R2. Com 20 times o raciocínio é idêntico: grau 2 em todo vértice.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Espelho: R18 inverte R1, R19 inverte R2. O quarteto é escolhido entre 46.512 combinações; o mínimo de violações é 4 por uma propriedade do método do círculo (paridade), independente de seed. Isso é um limite estrutural, não falta de iterações.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VND com duas vizinhanças ordenadas. Melhorou em qualquer uma, volta à primeira. As rodadas-âncora (1, 2, 18, 19 e seus espelhos 20, 21, 37, 38) são intocáveis.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ILS = VND + perturbação + aceitação. A perturbação usa as mesmas vizinhanças, sem avaliar custo. Força k cresce de 1 a 5 conforme estagna.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Comparação apenas de PRV. Real: 36. GRASP: 7. Após busca local: 9. Se a busca local subiu o PRV, explicar: ela cortou violações estruturais, que têm prioridade; PRV desempata.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frentes: datas FIFA (próxima), embaralhar times (uma linha, preserva determinismo), e devolver poder ao alpha da RCL.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Otimização do Calendário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Brasileirão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Metaheurística GRASP com busca local VND/ILS para minimizar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reuso de estádios (PRV)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589520" y="548640"/>
            <a:ext cx="914400" cy="914400"/>
          </a:xfrm>
          <a:prstGeom prst="ellipse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0" y="548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TCC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Danilo Resende  ·  Trabalho de Conclusão de Curso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problema: montar o calendário do Brasileirão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659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118872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2344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19659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rodadas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2344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380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19659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66560" y="118872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12344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295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19659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 disponíveis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384048" cy="384048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274320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PRV — Partidas com Reuso de Venue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20040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jogos no MESMO estádio com intervalo menor que 5 dias contam 1 PRV.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crítico: o Maracanã recebe Flamengo e Fluminense como mandantes.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cumprir as regras estruturais do regulamento e, entre as soluções válidas, minimizar o PRV.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calendário real de 2023 o PRV total foi 36 — o Maracanã sozinho respondeu por 11.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Intervalos de datas: a janela de cada rodada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247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→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19456" cy="384048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95528" y="1417320"/>
            <a:ext cx="219456" cy="384048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" y="182880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42416" y="1417320"/>
            <a:ext cx="219456" cy="384048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42416" y="182880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289304" y="1417320"/>
            <a:ext cx="219456" cy="384048"/>
          </a:xfrm>
          <a:prstGeom prst="rect">
            <a:avLst/>
          </a:prstGeom>
          <a:solidFill>
            <a:srgbClr val="E9EC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89304" y="182880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536192" y="1417320"/>
            <a:ext cx="219456" cy="384048"/>
          </a:xfrm>
          <a:prstGeom prst="rect">
            <a:avLst/>
          </a:prstGeom>
          <a:solidFill>
            <a:srgbClr val="E9EC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36192" y="182880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783080" y="1417320"/>
            <a:ext cx="219456" cy="384048"/>
          </a:xfrm>
          <a:prstGeom prst="rect">
            <a:avLst/>
          </a:prstGeom>
          <a:solidFill>
            <a:srgbClr val="E9EC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783080" y="182880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029968" y="1417320"/>
            <a:ext cx="219456" cy="384048"/>
          </a:xfrm>
          <a:prstGeom prst="rect">
            <a:avLst/>
          </a:prstGeom>
          <a:solidFill>
            <a:srgbClr val="E9EC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029968" y="182880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276856" y="1417320"/>
            <a:ext cx="219456" cy="384048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276856" y="182880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523744" y="1417320"/>
            <a:ext cx="219456" cy="384048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523744" y="182880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70632" y="1417320"/>
            <a:ext cx="219456" cy="384048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770632" y="182880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017520" y="1417320"/>
            <a:ext cx="219456" cy="384048"/>
          </a:xfrm>
          <a:prstGeom prst="rect">
            <a:avLst/>
          </a:prstGeom>
          <a:solidFill>
            <a:srgbClr val="E9EC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017520" y="182880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64408" y="1417320"/>
            <a:ext cx="219456" cy="384048"/>
          </a:xfrm>
          <a:prstGeom prst="rect">
            <a:avLst/>
          </a:prstGeom>
          <a:solidFill>
            <a:srgbClr val="E9EC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264408" y="182880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511296" y="1417320"/>
            <a:ext cx="219456" cy="384048"/>
          </a:xfrm>
          <a:prstGeom prst="rect">
            <a:avLst/>
          </a:prstGeom>
          <a:solidFill>
            <a:srgbClr val="E9EC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511296" y="182880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758184" y="1417320"/>
            <a:ext cx="219456" cy="384048"/>
          </a:xfrm>
          <a:prstGeom prst="rect">
            <a:avLst/>
          </a:prstGeom>
          <a:solidFill>
            <a:srgbClr val="E9EC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758184" y="182880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005072" y="1417320"/>
            <a:ext cx="219456" cy="384048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005072" y="182880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251960" y="1417320"/>
            <a:ext cx="219456" cy="384048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251960" y="182880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498848" y="1417320"/>
            <a:ext cx="219456" cy="384048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498848" y="182880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45736" y="1417320"/>
            <a:ext cx="219456" cy="384048"/>
          </a:xfrm>
          <a:prstGeom prst="rect">
            <a:avLst/>
          </a:prstGeom>
          <a:solidFill>
            <a:srgbClr val="E9EC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745736" y="182880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992624" y="1417320"/>
            <a:ext cx="219456" cy="384048"/>
          </a:xfrm>
          <a:prstGeom prst="rect">
            <a:avLst/>
          </a:prstGeom>
          <a:solidFill>
            <a:srgbClr val="E9EC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992624" y="182880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239512" y="1417320"/>
            <a:ext cx="219456" cy="384048"/>
          </a:xfrm>
          <a:prstGeom prst="rect">
            <a:avLst/>
          </a:prstGeom>
          <a:solidFill>
            <a:srgbClr val="E9EC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239512" y="182880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486400" y="1417320"/>
            <a:ext cx="219456" cy="384048"/>
          </a:xfrm>
          <a:prstGeom prst="rect">
            <a:avLst/>
          </a:prstGeom>
          <a:solidFill>
            <a:srgbClr val="E9EC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486400" y="182880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733288" y="1417320"/>
            <a:ext cx="219456" cy="384048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733288" y="182880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980176" y="1417320"/>
            <a:ext cx="219456" cy="384048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980176" y="182880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227064" y="1417320"/>
            <a:ext cx="219456" cy="384048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227064" y="182880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1399032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2276856" y="1399032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4005072" y="1399032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5733288" y="1399032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548640" y="20756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round_span = 3 dias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2651760" y="20756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round_gap = 7 dias entre inícios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57200" y="251460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94360" y="25786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round_gap = 7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594360" y="290779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início de cada rodada fica 7 dias após o início da anterior. Sem encavalamento entre rodadas.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246120" y="251460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3383280" y="25786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round_span = 3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3383280" y="290779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10 jogos de uma rodada se distribuem em até 3 dias consecutivos (~4 / 3 / 3 jogos por dia).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035040" y="251460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172200" y="25786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descanso ≥ 3 dias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6172200" y="290779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time joga duas vezes com menos de 3 dias de intervalo. A rodada 38 é toda na mesma data.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457200" y="37947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6D6"/>
          </a:solidFill>
          <a:ln w="19050">
            <a:solidFill>
              <a:srgbClr val="F4C542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640080" y="38404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Próxima implementação — Datas FIFA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as 295 datas disponíveis cobrem todos os dias do período. O arquivo de datas FIFA (43 dias de jogos de seleção) já está no projeto: o próximo passo é excluí-lo do conjunto de datas, para que nenhuma rodada caia em data FIFA.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geral do método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1554480"/>
          </a:xfrm>
          <a:prstGeom prst="roundRect">
            <a:avLst>
              <a:gd name="adj" fmla="val 4706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508760"/>
            <a:ext cx="384048" cy="384048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65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3317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teams.csv e datas disponíveis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04288" y="1993392"/>
            <a:ext cx="274320" cy="320040"/>
          </a:xfrm>
          <a:prstGeom prst="rightArrow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06040" y="1371600"/>
            <a:ext cx="1828800" cy="1554480"/>
          </a:xfrm>
          <a:prstGeom prst="roundRect">
            <a:avLst>
              <a:gd name="adj" fmla="val 470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1508760"/>
            <a:ext cx="384048" cy="384048"/>
          </a:xfrm>
          <a:prstGeom prst="ellipse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4320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1965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GRASP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23317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construções gulosas-aleatórias; guarda a melhor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53128" y="1993392"/>
            <a:ext cx="274320" cy="320040"/>
          </a:xfrm>
          <a:prstGeom prst="rightArrow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371600"/>
            <a:ext cx="1828800" cy="1554480"/>
          </a:xfrm>
          <a:prstGeom prst="roundRect">
            <a:avLst>
              <a:gd name="adj" fmla="val 470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1508760"/>
            <a:ext cx="384048" cy="384048"/>
          </a:xfrm>
          <a:prstGeom prst="ellipse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1965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local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23317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VND + ILS sobre a melhor construção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01968" y="1993392"/>
            <a:ext cx="274320" cy="320040"/>
          </a:xfrm>
          <a:prstGeom prst="rightArrow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03720" y="1371600"/>
            <a:ext cx="1828800" cy="1554480"/>
          </a:xfrm>
          <a:prstGeom prst="roundRect">
            <a:avLst>
              <a:gd name="adj" fmla="val 4706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40880" y="1508760"/>
            <a:ext cx="384048" cy="384048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4088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1965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23317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restrições (a–j) + PRV → calendário final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291840"/>
            <a:ext cx="384048" cy="384048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60120" y="329184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 de comparação entre soluções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60120" y="37490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solução é melhor se tem MENOS violações das regras estruturais; só em empate o PRV decide.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vale igualmente no GRASP e na busca local — o PRV é o critério de desempate, por decisão de projeto.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GRASP: construção gulosa-aleatória multi-start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572000" cy="2468880"/>
          </a:xfrm>
          <a:prstGeom prst="roundRect">
            <a:avLst>
              <a:gd name="adj" fmla="val 2963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98448"/>
            <a:ext cx="429768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melhor ← ∅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i = 1 … max_iter: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seed_i ← seed + i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α ← sorteia de {0.1, 0.2, 0.3, 0.4}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 ← CONSTRÓI(seed_i, α)   # próx. slide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avalia(S)                 # regras + PRV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 S melhor que melhor: melhor ← 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 estagnou k iterações: pare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retorna melhor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0" y="118872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0" y="1280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escolha gulosa-aleatória (RCL)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164592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cada passo, todos os candidatos são custeados.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Limiar = c_min + α · (c_max − c_min).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Entram na lista os candidatos com custo ≤ limiar.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Sorteia-se UM da lista. α = 0 é guloso puro; α = 1 é aleatório.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886200"/>
            <a:ext cx="384048" cy="384048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904488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iteração é independente: não recebe nada da anterior (multi-start).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seed ⇒ mesmo calendário. Reprodutível de ponta a ponta.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CONSTRÓI(seed, α): as etapas de uma construção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" cy="384048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1887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Confrontos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20700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do círculo gera 19 grupos de 10 pares (quem × quem), sem mando.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883664"/>
            <a:ext cx="384048" cy="384048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8836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Rodadas 1, 2, 18, 19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1901952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Escolhidas juntas e coloridas (próximos slides). Fixam as âncoras do turno.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578608"/>
            <a:ext cx="384048" cy="384048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5786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Rodadas 3 a 17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2596896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rodada: candidatos = grupos restantes × 1.024 mandos. RCL escolhe.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273552"/>
            <a:ext cx="384048" cy="384048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273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2735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Returno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32918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Rodadas 20–38 = espelho das 1–19 com mando invertido.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968496"/>
            <a:ext cx="384048" cy="384048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396849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291840" y="3986784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rodada recebe dias dentro da janela, respeitando descanso e minimizando PRV.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Rodadas 1 e 2: o mando sai de uma 2-coloração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377440" y="1645920"/>
            <a:ext cx="1069056" cy="617220"/>
          </a:xfrm>
          <a:prstGeom prst="line">
            <a:avLst/>
          </a:prstGeom>
          <a:noFill/>
          <a:ln w="31750">
            <a:solidFill>
              <a:srgbClr val="1B43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46496" y="2263140"/>
            <a:ext cx="914" cy="1234440"/>
          </a:xfrm>
          <a:prstGeom prst="line">
            <a:avLst/>
          </a:prstGeom>
          <a:noFill/>
          <a:ln w="31750">
            <a:solidFill>
              <a:srgbClr val="F4C54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 flipV="1">
            <a:off x="2377440" y="3497580"/>
            <a:ext cx="1069056" cy="617220"/>
          </a:xfrm>
          <a:prstGeom prst="line">
            <a:avLst/>
          </a:prstGeom>
          <a:noFill/>
          <a:ln w="31750">
            <a:solidFill>
              <a:srgbClr val="1B43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08384" y="3497580"/>
            <a:ext cx="1069056" cy="617220"/>
          </a:xfrm>
          <a:prstGeom prst="line">
            <a:avLst/>
          </a:prstGeom>
          <a:noFill/>
          <a:ln w="31750">
            <a:solidFill>
              <a:srgbClr val="F4C54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308384" y="2263140"/>
            <a:ext cx="914" cy="1234440"/>
          </a:xfrm>
          <a:prstGeom prst="line">
            <a:avLst/>
          </a:prstGeom>
          <a:noFill/>
          <a:ln w="31750">
            <a:solidFill>
              <a:srgbClr val="1B43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308384" y="1645920"/>
            <a:ext cx="1069056" cy="617220"/>
          </a:xfrm>
          <a:prstGeom prst="line">
            <a:avLst/>
          </a:prstGeom>
          <a:noFill/>
          <a:ln w="31750">
            <a:solidFill>
              <a:srgbClr val="F4C542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139696" y="1408176"/>
            <a:ext cx="475488" cy="475488"/>
          </a:xfrm>
          <a:prstGeom prst="ellipse">
            <a:avLst/>
          </a:prstGeom>
          <a:solidFill>
            <a:srgbClr val="1B433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39696" y="14081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08752" y="2025396"/>
            <a:ext cx="475488" cy="475488"/>
          </a:xfrm>
          <a:prstGeom prst="ellipse">
            <a:avLst/>
          </a:prstGeom>
          <a:solidFill>
            <a:srgbClr val="F4C5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8752" y="20253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208752" y="3259836"/>
            <a:ext cx="475488" cy="475488"/>
          </a:xfrm>
          <a:prstGeom prst="ellipse">
            <a:avLst/>
          </a:prstGeom>
          <a:solidFill>
            <a:srgbClr val="1B433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08752" y="32598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139696" y="3877056"/>
            <a:ext cx="475488" cy="475488"/>
          </a:xfrm>
          <a:prstGeom prst="ellipse">
            <a:avLst/>
          </a:prstGeom>
          <a:solidFill>
            <a:srgbClr val="F4C5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139696" y="3877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70640" y="3259836"/>
            <a:ext cx="475488" cy="475488"/>
          </a:xfrm>
          <a:prstGeom prst="ellipse">
            <a:avLst/>
          </a:prstGeom>
          <a:solidFill>
            <a:srgbClr val="1B433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70640" y="32598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70640" y="2025396"/>
            <a:ext cx="475488" cy="475488"/>
          </a:xfrm>
          <a:prstGeom prst="ellipse">
            <a:avLst/>
          </a:prstGeom>
          <a:solidFill>
            <a:srgbClr val="F4C5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70640" y="20253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457200" cy="914"/>
          </a:xfrm>
          <a:prstGeom prst="line">
            <a:avLst/>
          </a:prstGeom>
          <a:noFill/>
          <a:ln w="31750">
            <a:solidFill>
              <a:srgbClr val="1B433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97280" y="43159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 da R1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0" y="4434840"/>
            <a:ext cx="457200" cy="914"/>
          </a:xfrm>
          <a:prstGeom prst="line">
            <a:avLst/>
          </a:prstGeom>
          <a:noFill/>
          <a:ln w="31750">
            <a:solidFill>
              <a:srgbClr val="F4C542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2834640" y="43159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 da R2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5720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= manda na R1   ·   dourado = visita na R1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1188720"/>
            <a:ext cx="3840480" cy="3474720"/>
          </a:xfrm>
          <a:prstGeom prst="roundRect">
            <a:avLst>
              <a:gd name="adj" fmla="val 2105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02920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funciona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0" y="169164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Junte os jogos da R1 e da R2 num único grafo: cada time tem exatamente 2 arestas (uma de cada rodada).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grafo assim é só ciclos, alternando R1/R2 — logo de tamanho par — logo bipartido.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Bipartido ⇒ 2-colorível. A cor vira o mando na R1.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aresta liga cores opostas ⇒ na R2 cada time joga no lado contrário ao da R1.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'alternar casa/fora em R1–R2' fica garantida por construção, sem otimizar nada.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Rodadas 18 e 19: o espelho das rodadas 1 e 2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Exemplo: mandos do Flamengo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804672" cy="3840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3736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80467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14884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536192" y="1737360"/>
            <a:ext cx="804672" cy="3840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36192" y="173736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536192" y="2148840"/>
            <a:ext cx="804672" cy="384048"/>
          </a:xfrm>
          <a:prstGeom prst="rect">
            <a:avLst/>
          </a:prstGeom>
          <a:solidFill>
            <a:srgbClr val="F4C54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214884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32304" y="1737360"/>
            <a:ext cx="804672" cy="3840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32304" y="173736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R18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432304" y="2148840"/>
            <a:ext cx="804672" cy="384048"/>
          </a:xfrm>
          <a:prstGeom prst="rect">
            <a:avLst/>
          </a:prstGeom>
          <a:solidFill>
            <a:srgbClr val="F4C54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432304" y="214884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28416" y="1737360"/>
            <a:ext cx="804672" cy="3840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28416" y="173736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R19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28416" y="2148840"/>
            <a:ext cx="80467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28416" y="214884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651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R18 é o oposto da R1; R19 é o oposto da R2.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18872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4632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Escolha conjunta do quarteto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164592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R1, R2, R18 e R19 são escolhidas de uma vez, antes das rodadas intermediárias.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combinação, a coloração de R1 ∪ R2 diz o lado de cada time; um jogo de R18/R19 entre times da MESMA cor é uma violação inevitável.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 a combinação com menos violações; empates são sorteados.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2918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33375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46.512</a:t>
            </a:r>
            <a:endParaRPr lang="en-US" sz="32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3977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combinações de quarteto avaliadas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46120" y="32918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246120" y="33375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C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30" name="Text 28"/>
          <p:cNvSpPr txBox="1"/>
          <p:nvPr/>
        </p:nvSpPr>
        <p:spPr>
          <a:xfrm>
            <a:off x="3383280" y="3977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violações mínimas — piso estrutural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35040" y="32918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035040" y="33375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1.116</a:t>
            </a:r>
            <a:endParaRPr lang="en-US" sz="3200" dirty="0"/>
          </a:p>
        </p:txBody>
      </p:sp>
      <p:sp>
        <p:nvSpPr>
          <p:cNvPr id="33" name="Text 31"/>
          <p:cNvSpPr txBox="1"/>
          <p:nvPr/>
        </p:nvSpPr>
        <p:spPr>
          <a:xfrm>
            <a:off x="6172200" y="3977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combinações empatam no piso; a seed sorteia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local: VND (Variable Neighborhood Descent)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572000" cy="2468880"/>
          </a:xfrm>
          <a:prstGeom prst="roundRect">
            <a:avLst>
              <a:gd name="adj" fmla="val 2963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98448"/>
            <a:ext cx="429768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vizinhanças ← [troca_mando, troca_data]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← 1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enquanto k ≤ 2: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S' ← melhor vizinho de S em vizinhança[k]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 S' melhor que S: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 ← S';  k ← 1        # volta à primeira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senão: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 ← k + 1             # próxima vizinhança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retorna S                     # ótimo local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0" y="118872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0" y="1280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troca_mando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162763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 quem manda num confronto — nas duas pernas (turno e returno), para manter o duplo round-robin.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03520" y="246888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0" y="2560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troca_data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290779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as datas de dois jogos da mesma rodada, dentro da janela e respeitando o descanso.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886200"/>
            <a:ext cx="384048" cy="384048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388620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Rodadas congeladas: 1, 2, 18, 19, 20, 21, 37, 38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297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movimento toca as âncoras: a coloração e o espelho ficam preservados, e a rodada 38 continua numa data única. Dentro de cada vizinhança usa-se o melhor vizinho (best-improvement).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Escapando do ótimo local: ILS em torno do VND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572000" cy="2743200"/>
          </a:xfrm>
          <a:prstGeom prst="roundRect">
            <a:avLst>
              <a:gd name="adj" fmla="val 2667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98448"/>
            <a:ext cx="429768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S* ← VND(S0)               # ótimo local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 ← 1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repete até estagnar: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S'  ← PERTURBA(S*, k)   # k movimentos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S'' ← VND(S')           # re-otimiza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 S'' melhor que S*: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S* ← S'';  k ← 1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senão: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 ← min(k + 1, 5)   # mais forte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retorna S*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0" y="1234440"/>
            <a:ext cx="384048" cy="384048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806440" y="11887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Perturbação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806440" y="1527048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movimentos sorteados entre as mesmas vizinhanças do VND, aceitos mesmo que piorem — é a piora que sai do ótimo local.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303520" y="2148840"/>
            <a:ext cx="384048" cy="384048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0352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806440" y="21031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Aceitação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806440" y="2441448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substitui S* se a nova solução for estritamente melhor (better-only).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03520" y="3063240"/>
            <a:ext cx="384048" cy="384048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0352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30175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Força crescente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806440" y="3355848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Estagnou? k sobe até 5. Melhorou? k volta a 1.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ILS roda uma única vez, sobre a melhor construção do GRASP, e usa o VND como caixa-preta.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Resultado: PRV real × GRASP × busca local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852160" y="1143000"/>
            <a:ext cx="2834640" cy="1417320"/>
          </a:xfrm>
          <a:prstGeom prst="roundRect">
            <a:avLst>
              <a:gd name="adj" fmla="val 516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852160" y="11887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C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−75%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989320" y="1920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PRV em relação ao calendário real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852160" y="2697480"/>
            <a:ext cx="2834640" cy="1920240"/>
          </a:xfrm>
          <a:prstGeom prst="roundRect">
            <a:avLst>
              <a:gd name="adj" fmla="val 3810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035040" y="27614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Leitura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3063240"/>
            <a:ext cx="2560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Maracanã: 11 PRV no calendário real → 9 na solução final.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busca local priorizou as regras estruturais (12 → 4 violações) e aceitou um PRV um pouco maior: é o critério de desempate em ação.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com os parâmetros padrão (GRASP 26 iterações, seed 42).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PRV: jogos no mesmo estádio com menos de 5 dias de intervalo. O calendário real usa outra distribuição de datas (rodadas no meio da semana), o que também influencia seu PRV.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84048" cy="384048"/>
          </a:xfrm>
          <a:prstGeom prst="ellipse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3444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C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 FIFA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6459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Excluir os dias de jogos de seleção do conjunto de datas disponíveis.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384048" cy="384048"/>
          </a:xfrm>
          <a:prstGeom prst="ellipse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28600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C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Diversidade dos confrontos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6974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Embaralhar a ordem dos times antes do método do círculo, com a mesma seed, para explorar outros agrupamentos.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384048" cy="384048"/>
          </a:xfrm>
          <a:prstGeom prst="ellipse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33756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C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Poder da RCL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7490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quase todos os candidatos empatam em custo zero; revisar o custo da construção para que α tenha efeito real.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Otimização do Calendário do Brasileirão via GRASP</dc:title>
  <dc:subject>PptxGenJS Presentation</dc:subject>
  <dc:creator>PptxGenJS</dc:creator>
  <cp:lastModifiedBy>PptxGenJS</cp:lastModifiedBy>
  <cp:revision>1</cp:revision>
  <dcterms:created xsi:type="dcterms:W3CDTF">2026-09-10T00:07:04Z</dcterms:created>
  <dcterms:modified xsi:type="dcterms:W3CDTF">2026-09-10T00:07:04Z</dcterms:modified>
</cp:coreProperties>
</file>